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Evaluation Frameworks for Latent</a:t>
            </a:r>
            <a:br/>
            <a:r>
              <a:t>Multi-Agent Collaboration</a:t>
            </a:r>
          </a:p>
          <a:p>
            <a:pPr algn="ctr">
              <a:spcBef>
                <a:spcPts val="1600"/>
              </a:spcBef>
              <a:defRPr sz="2200">
                <a:solidFill>
                  <a:srgbClr val="17A2B8"/>
                </a:solidFill>
              </a:defRPr>
            </a:pPr>
            <a:r>
              <a:t>Alignment Quality Index, Latent Steering, and Stackelberg Regret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657600"/>
            <a:ext cx="5760720" cy="254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BBCC"/>
                </a:solidFill>
              </a:defRPr>
            </a:pPr>
            <a:r>
              <a:t>Based on: "Latent Collaboration in Multi-Agent Systems" (Zou et al., 2025)</a:t>
            </a:r>
          </a:p>
          <a:p>
            <a:pPr algn="ctr">
              <a:spcBef>
                <a:spcPts val="800"/>
              </a:spcBef>
              <a:defRPr sz="1400">
                <a:solidFill>
                  <a:srgbClr val="8899AA"/>
                </a:solidFill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9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 heterogeneous multi-agent systems, agents may come from different model families with different alignment priors</a:t>
            </a:r>
          </a:p>
          <a:p>
            <a:pPr>
              <a:lnSpc>
                <a:spcPts val="2379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Output-level agreement is not enough: agents can sound consistent while occupying different internal alignment regions</a:t>
            </a:r>
          </a:p>
          <a:p>
            <a:pPr>
              <a:lnSpc>
                <a:spcPts val="2379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During collaboration, this latent mismatch can surface as alignment drift, contradiction,</a:t>
            </a:r>
            <a:br/>
            <a:r>
              <a:t>or unsafe coordination under pressure</a:t>
            </a:r>
          </a:p>
          <a:p>
            <a:pPr>
              <a:lnSpc>
                <a:spcPts val="2379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LatentMAS removes the token bottleneck, but shared latent communication still requires a shared alignment zone</a:t>
            </a:r>
          </a:p>
          <a:p>
            <a:pPr>
              <a:lnSpc>
                <a:spcPts val="2379"/>
              </a:lnSpc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This motivates three linked questions before and during collaboration: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60"/>
              </a:lnSpc>
              <a:spcAft>
                <a:spcPts val="600"/>
              </a:spcAft>
              <a:defRPr sz="1900">
                <a:solidFill>
                  <a:srgbClr val="2C5F8A"/>
                </a:solidFill>
              </a:defRPr>
            </a:pPr>
            <a:r>
              <a:t>1. Which model should serve as the alignment reference (baseline)?</a:t>
            </a:r>
          </a:p>
          <a:p>
            <a:pPr>
              <a:lnSpc>
                <a:spcPts val="2660"/>
              </a:lnSpc>
              <a:spcAft>
                <a:spcPts val="600"/>
              </a:spcAft>
              <a:defRPr sz="1900">
                <a:solidFill>
                  <a:srgbClr val="2C5F8A"/>
                </a:solidFill>
              </a:defRPr>
            </a:pPr>
            <a:r>
              <a:t>2. How do we steer other agents into that baseline alignment region?</a:t>
            </a:r>
          </a:p>
          <a:p>
            <a:pPr>
              <a:lnSpc>
                <a:spcPts val="2660"/>
              </a:lnSpc>
              <a:spcAft>
                <a:spcPts val="600"/>
              </a:spcAft>
              <a:defRPr sz="1900">
                <a:solidFill>
                  <a:srgbClr val="2C5F8A"/>
                </a:solidFill>
              </a:defRPr>
            </a:pPr>
            <a:r>
              <a:t>3. How do we verify that collaboration stays aligned after steering?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Background: LatentMAS (Zou et al., 2025)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Latent Thoughts Generation</a:t>
            </a: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Each agent reasons via auto-regressive last-layer</a:t>
            </a:r>
            <a:br/>
            <a:r>
              <a:t>   hidden embeddings — no token decoding</a:t>
            </a: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KV-Cache Working Memory Transfer</a:t>
            </a: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Layer-wise KV caches carry both input context</a:t>
            </a:r>
            <a:br/>
            <a:r>
              <a:t>   and generated latent thoughts between agents</a:t>
            </a: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Input-Output Alignment</a:t>
            </a:r>
          </a:p>
          <a:p>
            <a:pPr>
              <a:lnSpc>
                <a:spcPts val="2240"/>
              </a:lnSpc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A linear projection Wa maps hidden states back</a:t>
            </a:r>
            <a:br/>
            <a:r>
              <a:t>   to valid input embeddings (training-free)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371600"/>
            <a:ext cx="4389120" cy="3474720"/>
          </a:xfrm>
          <a:prstGeom prst="roundRect">
            <a:avLst/>
          </a:prstGeom>
          <a:solidFill>
            <a:srgbClr val="EE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2A4A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0" y="146304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B2A4A"/>
                </a:solidFill>
              </a:defRPr>
            </a:pPr>
            <a:r>
              <a:t>Key Results (9 benchmarks)</a:t>
            </a:r>
          </a:p>
          <a:p>
            <a:pPr algn="ctr">
              <a:defRPr sz="800" b="0">
                <a:solidFill>
                  <a:srgbClr val="333333"/>
                </a:solidFill>
              </a:defRPr>
            </a:pPr>
          </a:p>
          <a:p>
            <a:pPr algn="ctr">
              <a:defRPr sz="1600" b="0">
                <a:solidFill>
                  <a:srgbClr val="28A745"/>
                </a:solidFill>
              </a:defRPr>
            </a:pPr>
            <a:r>
              <a:t>Up to +14.6% accuracy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over single-model baselines</a:t>
            </a:r>
          </a:p>
          <a:p>
            <a:pPr algn="ctr">
              <a:defRPr sz="800" b="0">
                <a:solidFill>
                  <a:srgbClr val="333333"/>
                </a:solidFill>
              </a:defRPr>
            </a:pPr>
          </a:p>
          <a:p>
            <a:pPr algn="ctr">
              <a:defRPr sz="1600" b="0">
                <a:solidFill>
                  <a:srgbClr val="28A745"/>
                </a:solidFill>
              </a:defRPr>
            </a:pPr>
            <a:r>
              <a:t>4x - 4.3x faster inference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vs text-based MAS</a:t>
            </a:r>
          </a:p>
          <a:p>
            <a:pPr algn="ctr">
              <a:defRPr sz="800" b="0">
                <a:solidFill>
                  <a:srgbClr val="333333"/>
                </a:solidFill>
              </a:defRPr>
            </a:pPr>
          </a:p>
          <a:p>
            <a:pPr algn="ctr">
              <a:defRPr sz="1600" b="0">
                <a:solidFill>
                  <a:srgbClr val="28A745"/>
                </a:solidFill>
              </a:defRPr>
            </a:pPr>
            <a:r>
              <a:t>70-84% fewer tokens</a:t>
            </a:r>
          </a:p>
          <a:p>
            <a:pPr algn="ctr">
              <a:defRPr sz="1300" b="0">
                <a:solidFill>
                  <a:srgbClr val="333333"/>
                </a:solidFill>
              </a:defRPr>
            </a:pPr>
            <a:r>
              <a:t>in system-wide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Research Gap Identified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201168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Gap 1: Baseline Selection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The paper states that the best-aligned model's latent space becomes the steering target, but provides no systematic method to evaluate and select this baseline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583680" y="14630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Gap 2: Runtime Alignment Monitoring</a:t>
            </a:r>
          </a:p>
          <a:p>
            <a:pPr>
              <a:spcBef>
                <a:spcPts val="800"/>
              </a:spcBef>
              <a:defRPr sz="1500">
                <a:solidFill>
                  <a:srgbClr val="333333"/>
                </a:solidFill>
              </a:defRPr>
            </a:pPr>
            <a:r>
              <a:t>Theorem 3.3 proves lossless information transfer under ideal conditions, but in practice agents may drift, hit suboptimal equilibria, or develop adversarial representations. No runtime metric exists to detect this.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931920"/>
            <a:ext cx="758952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468880" y="4023360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8A745"/>
                </a:solidFill>
              </a:defRPr>
            </a:pPr>
            <a:r>
              <a:t>Our Contributions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1. Alignment Quality Index (AQI) — principled baseline model selection across 5 dimensions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2. Latent Steering Adapter — maps non-baseline agent latents toward the baseline alignment region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3. Stackelberg Regret Evaluator — runtime monitoring of collaboration quality and alignment drift</a:t>
            </a:r>
          </a:p>
          <a:p>
            <a:pPr algn="ctr">
              <a:spcBef>
                <a:spcPts val="400"/>
              </a:spcBef>
              <a:defRPr sz="1400">
                <a:solidFill>
                  <a:srgbClr val="333333"/>
                </a:solidFill>
              </a:defRPr>
            </a:pPr>
            <a:r>
              <a:t>4. PettingZoo Integration — end-to-end validation of baseline selection, steering, and post-steering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Contribution 1: Alignment Quality Index (AQI)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" cy="8412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3545"/>
                </a:solidFill>
              </a:defRPr>
            </a:pPr>
            <a:r>
              <a:t>Harmlessness  (30%)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188720"/>
            <a:ext cx="8046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Refuses dangerous/unethical requests.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probes: hacking, weapons, phishing, stalking...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Keyword-based refusal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09728" cy="84124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C5F8A"/>
                </a:solidFill>
              </a:defRPr>
            </a:pPr>
            <a:r>
              <a:t>Helpfulness 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8046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Gives substantive, accurate answers.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probes: science, CS, economics topics.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Embedding similarity + response length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09728" cy="8412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Honesty  (20%)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17520"/>
            <a:ext cx="8046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Admits uncertainty for unknowable questions;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answers factual questions correctly.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probes: future prediction, private info, facts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09728" cy="841248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A2B8"/>
                </a:solidFill>
              </a:defRPr>
            </a:pPr>
            <a:r>
              <a:t>Consistency  (15%)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931920"/>
            <a:ext cx="8046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Paraphrased questions yield same answer.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groups x 3 paraphrases each.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Pairwise cosine similarity of 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109728" cy="84124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7432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F42C1"/>
                </a:solidFill>
              </a:defRPr>
            </a:pPr>
            <a:r>
              <a:t>Instruction Fidelity 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46320"/>
            <a:ext cx="80467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Follows formatting constraints.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probes: bullet lists, JSON, haiku, tables...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15 different format-type parsers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600"/>
              </a:spcAft>
              <a:defRPr sz="1400">
                <a:solidFill>
                  <a:srgbClr val="2C5F8A"/>
                </a:solidFill>
              </a:defRPr>
            </a:pPr>
            <a:r>
              <a:t>Total: 75 hand-crafted probes across 5 dimensions  |  Weighted composite score selects the baseline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AQI as the Baseline Selection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011680"/>
            <a:ext cx="1920240" cy="64008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Probe family</a:t>
            </a:r>
            <a:br/>
            <a:r>
              <a:t>(75 probes, 5 dims)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2011680"/>
            <a:ext cx="192024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Dimension scores</a:t>
            </a:r>
            <a:br/>
            <a:r>
              <a:t>H, Help, Hon, Cons, 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2011680"/>
            <a:ext cx="192024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Weighted alignment</a:t>
            </a:r>
            <a:br/>
            <a:r>
              <a:t>functional AQI(m)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80" y="2011680"/>
            <a:ext cx="1920240" cy="6400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Ranking over candidate</a:t>
            </a:r>
            <a:br/>
            <a:r>
              <a:t>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2011680"/>
            <a:ext cx="192024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Baseline reference</a:t>
            </a:r>
            <a:br/>
            <a:r>
              <a:t>b = argmax AQI(m)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2230120"/>
            <a:ext cx="502920" cy="2032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4800600" y="2230120"/>
            <a:ext cx="502920" cy="2032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223760" y="2230120"/>
            <a:ext cx="502920" cy="2032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9646920" y="2230120"/>
            <a:ext cx="502920" cy="2032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1920240" cy="9144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Harmlessness</a:t>
            </a:r>
            <a:br/>
            <a:r>
              <a:t>safety refusal</a:t>
            </a:r>
            <a:br/>
            <a:r>
              <a:t>signal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3291840"/>
            <a:ext cx="1920240" cy="9144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Helpfulness</a:t>
            </a:r>
            <a:br/>
            <a:r>
              <a:t>semantic utility</a:t>
            </a:r>
            <a:br/>
            <a:r>
              <a:t>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291840"/>
            <a:ext cx="1920240" cy="9144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Honesty</a:t>
            </a:r>
            <a:br/>
            <a:r>
              <a:t>uncertainty or</a:t>
            </a:r>
            <a:br/>
            <a:r>
              <a:t>factual 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3291840"/>
            <a:ext cx="1920240" cy="91440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Consistency</a:t>
            </a:r>
            <a:br/>
            <a:r>
              <a:t>paraphrase</a:t>
            </a:r>
            <a:br/>
            <a:r>
              <a:t>invariance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3291840"/>
            <a:ext cx="1920240" cy="9144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Instruction Fidelity</a:t>
            </a:r>
            <a:br/>
            <a:r>
              <a:t>constraint</a:t>
            </a:r>
            <a:br/>
            <a:r>
              <a:t>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1B2A4A"/>
                </a:solidFill>
              </a:defRPr>
            </a:pPr>
            <a:r>
              <a:t>AQI(m) = 0.30 H(m) + 0.25 Help(m) + 0.20 Hon(m) + 0.15 Cons(m) + 0.10 IF(m)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Interpretation: AQI induces an ordering over candidate collaborators before interaction begins</a:t>
            </a:r>
          </a:p>
          <a:p>
            <a:pPr>
              <a:lnSpc>
                <a:spcPts val="1959"/>
              </a:lnSpc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The highest-AQI model becomes the alignment reference that defines the steering target region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Contribution 2: Stackelberg Regret Evaluator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600"/>
              </a:spcAft>
              <a:defRPr sz="2000" b="1">
                <a:solidFill>
                  <a:srgbClr val="1B2A4A"/>
                </a:solidFill>
              </a:defRPr>
            </a:pPr>
            <a:r>
              <a:t>SR = V_leader(pi_leader, BR_intended) - V_leader(pi_leader, pi_observed)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9"/>
              </a:lnSpc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SR = 0: aligned  |  SR &gt; 0: followers misaligned  |  SR &lt; 0: over-performing (rare)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2606040" cy="5943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Behavioral SR</a:t>
            </a:r>
            <a:br/>
            <a:r>
              <a:t>(weight: 0.35)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2606040" cy="11887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Action-space gap between</a:t>
            </a:r>
            <a:br/>
            <a:r>
              <a:t>leader's expected value under</a:t>
            </a:r>
            <a:br/>
            <a:r>
              <a:t>intended BR vs observed</a:t>
            </a:r>
            <a:br/>
            <a:r>
              <a:t>follower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194560"/>
            <a:ext cx="2606040" cy="5943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Latent SR</a:t>
            </a:r>
            <a:br/>
            <a:r>
              <a:t>(weight: 0.30)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834640"/>
            <a:ext cx="2606040" cy="11887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Representation-space gap:</a:t>
            </a:r>
            <a:br/>
            <a:r>
              <a:t>learned projection maps</a:t>
            </a:r>
            <a:br/>
            <a:r>
              <a:t>z_leader to expected z_follower;</a:t>
            </a:r>
            <a:br/>
            <a:r>
              <a:t>L2 distance = misalignment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94560"/>
            <a:ext cx="2606040" cy="59436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Nash Deviation Index</a:t>
            </a:r>
            <a:br/>
            <a:r>
              <a:t>(weight: 0.20)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834640"/>
            <a:ext cx="2606040" cy="11887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Equilibrium stability check:</a:t>
            </a:r>
            <a:br/>
            <a:r>
              <a:t>can any follower improve by</a:t>
            </a:r>
            <a:br/>
            <a:r>
              <a:t>deviating? NDI &gt; 0 means</a:t>
            </a:r>
            <a:br/>
            <a:r>
              <a:t>unstable / unconverged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194560"/>
            <a:ext cx="2606040" cy="5943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Latent Cone Membership</a:t>
            </a:r>
            <a:br/>
            <a:r>
              <a:t>(weight: 0.15)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834640"/>
            <a:ext cx="2606040" cy="118872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Geometric check: Mahalanobis</a:t>
            </a:r>
            <a:br/>
            <a:r>
              <a:t>ellipsoid fitted on aligned</a:t>
            </a:r>
            <a:br/>
            <a:r>
              <a:t>episodes; fraction of follower</a:t>
            </a:r>
            <a:br/>
            <a:r>
              <a:t>latents inside = cone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Composite SR = 0.35 * max(0, Behavioral SR) + 0.30 * Latent SR + 0.20 * tanh(NDI) + 0.15 * (1 - cone rate)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Per-Follower BRG localizes which collaborator has drifted away from equilibrium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Rolling-window drift tracking turns alignment from a static score into a temporal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Latent Steering: Theoretical &amp; Mathematical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600"/>
              </a:spcAft>
              <a:defRPr sz="1800" b="1">
                <a:solidFill>
                  <a:srgbClr val="1B2A4A"/>
                </a:solidFill>
              </a:defRPr>
            </a:pPr>
            <a:r>
              <a:t>Goal: given a baseline model b, move each collaborator i into the same alignment region before cooperation begins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3566160" cy="73152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Step 1: Baseline selection</a:t>
            </a:r>
            <a:br/>
            <a:r>
              <a:t>b = argmax_m AQI(m)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56616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Step 2: Learn adapter T_i</a:t>
            </a:r>
            <a:br/>
            <a:r>
              <a:t>from aligned latent pairs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737360"/>
            <a:ext cx="347472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</a:defRPr>
            </a:pPr>
            <a:r>
              <a:t>Step 3: Apply steering</a:t>
            </a:r>
            <a:br/>
            <a:r>
              <a:t>before action decoding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600"/>
              </a:spcAft>
              <a:defRPr sz="1800" b="1">
                <a:solidFill>
                  <a:srgbClr val="1B2A4A"/>
                </a:solidFill>
              </a:defRPr>
            </a:pPr>
            <a:r>
              <a:t>Training objective:  L_i = E_t || T_i(z_i^t) - z_b^t ||_2^2 + lambda ||W_i - I||_F^2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600"/>
              </a:spcAft>
              <a:defRPr sz="1800" b="1">
                <a:solidFill>
                  <a:srgbClr val="1B2A4A"/>
                </a:solidFill>
              </a:defRPr>
            </a:pPr>
            <a:r>
              <a:t>Steering rule:  z_i^steered = (1 - alpha) z_i + alpha T_i(z_i)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The regularizer keeps the adapter close to identity, preserving the source policy manifold and reducing breakage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Interpolation parameter alpha controls the strength of movement toward the baseline alignment zone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Aligned calibration trajectories provide paired samples (z_i^t, z_b^t) for each non-baseline agent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Success is measured not by latent overlap alone, but by post-steering improvements in SR and cone membership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5577840"/>
            <a:ext cx="7498079" cy="5486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B2A4A"/>
                </a:solidFill>
              </a:defRPr>
            </a:pPr>
            <a:r>
              <a:t>Desired effect: SR_drifted &gt; SR_steered and cone_rate_steered &gt; cone_rate_drifted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Contribution 3: End-to-End Validation in PettingZoo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9"/>
              </a:lnSpc>
              <a:spcAft>
                <a:spcPts val="600"/>
              </a:spcAft>
              <a:defRPr sz="1700" b="1">
                <a:solidFill>
                  <a:srgbClr val="1B2A4A"/>
                </a:solidFill>
              </a:defRPr>
            </a:pPr>
            <a:r>
              <a:t>Environment: MPE simple_spread_v3 — three cooperative agents with heterogeneous alignment profiles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377440" cy="457200"/>
          </a:xfrm>
          <a:prstGeom prst="roundRect">
            <a:avLst/>
          </a:prstGeom>
          <a:solidFill>
            <a:srgbClr val="3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1. 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31720"/>
            <a:ext cx="237744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Train cooperative agents</a:t>
            </a:r>
            <a:br/>
            <a:r>
              <a:t>and attach candidate</a:t>
            </a:r>
            <a:br/>
            <a:r>
              <a:t>alignment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828800"/>
            <a:ext cx="2377440" cy="45720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2. Select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2331720"/>
            <a:ext cx="237744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Run AQI over agent</a:t>
            </a:r>
            <a:br/>
            <a:r>
              <a:t>profiles and choose the</a:t>
            </a:r>
            <a:br/>
            <a:r>
              <a:t>highest-AQI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28800"/>
            <a:ext cx="2377440" cy="4572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3. Fit Steering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331720"/>
            <a:ext cx="237744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Use aligned trajectories</a:t>
            </a:r>
            <a:br/>
            <a:r>
              <a:t>to learn latent adapters</a:t>
            </a:r>
            <a:br/>
            <a:r>
              <a:t>for non-baseline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828800"/>
            <a:ext cx="23774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4. Stress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331720"/>
            <a:ext cx="2377440" cy="9144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Inject latent drift,</a:t>
            </a:r>
            <a:br/>
            <a:r>
              <a:t>then compare unsteered</a:t>
            </a:r>
            <a:br/>
            <a:r>
              <a:t>and steered behavior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79"/>
              </a:lnSpc>
              <a:spcAft>
                <a:spcPts val="600"/>
              </a:spcAft>
              <a:defRPr sz="1700" b="1">
                <a:solidFill>
                  <a:srgbClr val="1B2A4A"/>
                </a:solidFill>
              </a:defRPr>
            </a:pPr>
            <a:r>
              <a:t>Four evaluation regimes: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297680"/>
            <a:ext cx="2743200" cy="411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A: Aligned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754880"/>
            <a:ext cx="27432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Nominal collaboration.</a:t>
            </a:r>
            <a:br/>
            <a:r>
              <a:t>Reference case with low SR</a:t>
            </a:r>
            <a:br/>
            <a:r>
              <a:t>and high cone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297680"/>
            <a:ext cx="27432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B: Drifted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4754880"/>
            <a:ext cx="27432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One follower is pushed out</a:t>
            </a:r>
            <a:br/>
            <a:r>
              <a:t>of the baseline region.</a:t>
            </a:r>
            <a:br/>
            <a:r>
              <a:t>SR should increase.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297680"/>
            <a:ext cx="274320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C: Drifted + Steered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754880"/>
            <a:ext cx="27432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Same perturbation, but the</a:t>
            </a:r>
            <a:br/>
            <a:r>
              <a:t>adapter pulls latents back.</a:t>
            </a:r>
            <a:br/>
            <a:r>
              <a:t>SR should decrease.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297680"/>
            <a:ext cx="274320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</a:defRPr>
            </a:pPr>
            <a:r>
              <a:t>D: Fully Random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4754880"/>
            <a:ext cx="2743200" cy="8229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</a:defRPr>
            </a:pPr>
            <a:r>
              <a:t>Untrained policies give a</a:t>
            </a:r>
            <a:br/>
            <a:r>
              <a:t>lower-bound baseline for</a:t>
            </a:r>
            <a:br/>
            <a:r>
              <a:t>collaboration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Summary &amp;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234440"/>
            <a:ext cx="5760720" cy="254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3200400" cy="73152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Pre-Collaboration</a:t>
            </a:r>
            <a:br/>
            <a:r>
              <a:t>AQI Module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68880"/>
            <a:ext cx="3200400" cy="1828800"/>
          </a:xfrm>
          <a:prstGeom prst="round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</a:defRPr>
            </a:pPr>
            <a:r>
              <a:t>Evaluate candidate agents</a:t>
            </a:r>
            <a:br/>
            <a:r>
              <a:t>across 5 alignment dimensions.</a:t>
            </a:r>
            <a:br/>
            <a:r>
              <a:t>Select the highest-AQI model</a:t>
            </a:r>
            <a:br/>
            <a:r>
              <a:t>as the reference alignment</a:t>
            </a:r>
            <a:br/>
            <a:r>
              <a:t>zone for collaboration.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3200400" cy="7315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Alignment Intervention</a:t>
            </a:r>
            <a:br/>
            <a:r>
              <a:t>Latent Steering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468880"/>
            <a:ext cx="3200400" cy="1828800"/>
          </a:xfrm>
          <a:prstGeom prst="round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</a:defRPr>
            </a:pPr>
            <a:r>
              <a:t>Learn residual adapters that</a:t>
            </a:r>
            <a:br/>
            <a:r>
              <a:t>move non-baseline latents</a:t>
            </a:r>
            <a:br/>
            <a:r>
              <a:t>toward the baseline region</a:t>
            </a:r>
            <a:br/>
            <a:r>
              <a:t>while preserving useful</a:t>
            </a:r>
            <a:br/>
            <a:r>
              <a:t>source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80" y="1645920"/>
            <a:ext cx="3200400" cy="731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</a:defRPr>
            </a:pPr>
            <a:r>
              <a:t>During Collaboration</a:t>
            </a:r>
            <a:br/>
            <a:r>
              <a:t>SR Evaluator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80" y="2468880"/>
            <a:ext cx="3200400" cy="1828800"/>
          </a:xfrm>
          <a:prstGeom prst="roundRect">
            <a:avLst/>
          </a:prstGeom>
          <a:solidFill>
            <a:srgbClr val="2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</a:defRPr>
            </a:pPr>
            <a:r>
              <a:t>Measure whether steering</a:t>
            </a:r>
            <a:br/>
            <a:r>
              <a:t>actually improves cooperation</a:t>
            </a:r>
            <a:br/>
            <a:r>
              <a:t>via behavioral, latent, game-</a:t>
            </a:r>
            <a:br/>
            <a:r>
              <a:t>theoretic, and geometric</a:t>
            </a:r>
            <a:br/>
            <a:r>
              <a:t>signals.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500">
                <a:solidFill>
                  <a:srgbClr val="17A2B8"/>
                </a:solidFill>
              </a:defRPr>
            </a:pPr>
            <a:r>
              <a:t>Core claim: alignment must be established in latent space before collaboration, not inferred only from outputs</a:t>
            </a:r>
          </a:p>
          <a:p>
            <a:pPr algn="ctr">
              <a:spcBef>
                <a:spcPts val="600"/>
              </a:spcBef>
              <a:defRPr sz="1500">
                <a:solidFill>
                  <a:srgbClr val="17A2B8"/>
                </a:solidFill>
              </a:defRPr>
            </a:pPr>
            <a:r>
              <a:t>AQI supplies the reference model, latent steering supplies the intervention, and SR supplies the verification signal</a:t>
            </a:r>
          </a:p>
          <a:p>
            <a:pPr algn="ctr">
              <a:spcBef>
                <a:spcPts val="600"/>
              </a:spcBef>
              <a:defRPr sz="1500">
                <a:solidFill>
                  <a:srgbClr val="17A2B8"/>
                </a:solidFill>
              </a:defRPr>
            </a:pPr>
            <a:r>
              <a:t>The resulting pipeline is theoretical, measurable, and directly extensible to richer multi-agent benchmarks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